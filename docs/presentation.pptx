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a36c02ff2e473c" /><Relationship Type="http://schemas.openxmlformats.org/officeDocument/2006/relationships/extended-properties" Target="/docProps/app.xml" Id="R78bdf920595a431b" /><Relationship Type="http://schemas.openxmlformats.org/officeDocument/2006/relationships/officeDocument" Target="/ppt/presentation.xml" Id="Reb6d259cbccc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0a975508e343d3"/>
  </p:sldMasterIdLst>
  <p:notesMasterIdLst>
    <p:notesMasterId xmlns:r="http://schemas.openxmlformats.org/officeDocument/2006/relationships" r:id="Ra3e7016d7d724f88"/>
  </p:notesMasterIdLst>
  <p:sldIdLst>
    <p:sldId xmlns:r="http://schemas.openxmlformats.org/officeDocument/2006/relationships" id="256" r:id="R40c201271bfa49ee"/>
    <p:sldId xmlns:r="http://schemas.openxmlformats.org/officeDocument/2006/relationships" id="257" r:id="R4fbd51a762e84d7f"/>
    <p:sldId xmlns:r="http://schemas.openxmlformats.org/officeDocument/2006/relationships" id="258" r:id="R8a47a18d192a4566"/>
    <p:sldId xmlns:r="http://schemas.openxmlformats.org/officeDocument/2006/relationships" id="259" r:id="R55c2f3f45be742b6"/>
    <p:sldId xmlns:r="http://schemas.openxmlformats.org/officeDocument/2006/relationships" id="260" r:id="R1fd605b0409b4077"/>
    <p:sldId xmlns:r="http://schemas.openxmlformats.org/officeDocument/2006/relationships" id="261" r:id="R0ab55d0d6dd149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3d51cbf35a449f" /><Relationship Type="http://schemas.openxmlformats.org/officeDocument/2006/relationships/slideMaster" Target="/ppt/slideMasters/slideMaster1.xml" Id="R330a975508e343d3" /><Relationship Type="http://schemas.openxmlformats.org/officeDocument/2006/relationships/notesMaster" Target="/ppt/notesMasters/notesMaster1.xml" Id="Ra3e7016d7d724f88" /><Relationship Type="http://schemas.openxmlformats.org/officeDocument/2006/relationships/presProps" Target="/ppt/presProps.xml" Id="R27f16383713d4315" /><Relationship Type="http://schemas.openxmlformats.org/officeDocument/2006/relationships/tableStyles" Target="/ppt/tableStyles.xml" Id="R71a3461df5514832" /><Relationship Type="http://schemas.openxmlformats.org/officeDocument/2006/relationships/slide" Target="/ppt/slides/slide1.xml" Id="R40c201271bfa49ee" /><Relationship Type="http://schemas.openxmlformats.org/officeDocument/2006/relationships/slide" Target="/ppt/slides/slide2.xml" Id="R4fbd51a762e84d7f" /><Relationship Type="http://schemas.openxmlformats.org/officeDocument/2006/relationships/slide" Target="/ppt/slides/slide3.xml" Id="R8a47a18d192a4566" /><Relationship Type="http://schemas.openxmlformats.org/officeDocument/2006/relationships/slide" Target="/ppt/slides/slide4.xml" Id="R55c2f3f45be742b6" /><Relationship Type="http://schemas.openxmlformats.org/officeDocument/2006/relationships/slide" Target="/ppt/slides/slide5.xml" Id="R1fd605b0409b4077" /><Relationship Type="http://schemas.openxmlformats.org/officeDocument/2006/relationships/slide" Target="/ppt/slides/slide6.xml" Id="R0ab55d0d6dd149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bf63b2c2354c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00954fb14c4787" /><Relationship Type="http://schemas.openxmlformats.org/officeDocument/2006/relationships/notesMaster" Target="/ppt/notesMasters/notesMaster1.xml" Id="Rcfab9e00be2a44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e3139fbf8f45c4" /><Relationship Type="http://schemas.openxmlformats.org/officeDocument/2006/relationships/notesMaster" Target="/ppt/notesMasters/notesMaster1.xml" Id="R2dbc937afb704c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3140a5216c4468" /><Relationship Type="http://schemas.openxmlformats.org/officeDocument/2006/relationships/notesMaster" Target="/ppt/notesMasters/notesMaster1.xml" Id="Re7f432d8561a44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2c4335533453d" /><Relationship Type="http://schemas.openxmlformats.org/officeDocument/2006/relationships/notesMaster" Target="/ppt/notesMasters/notesMaster1.xml" Id="R5fd7a0b2c6c643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8d0b6c59e64641" /><Relationship Type="http://schemas.openxmlformats.org/officeDocument/2006/relationships/notesMaster" Target="/ppt/notesMasters/notesMaster1.xml" Id="R62713235ddee42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3085fb80a045e4" /><Relationship Type="http://schemas.openxmlformats.org/officeDocument/2006/relationships/notesMaster" Target="/ppt/notesMasters/notesMaster1.xml" Id="Ra7468aed18f74c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Слайд 1. Паддинг и метка начала истории в LA-SATF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**0:00–0:35 · 35 секунд**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Наш проект посвящён последовательным рекомендациям: по истории взаимодействий пользователя нужно предсказать следующий объект. Мы исследуем конкретный вопрос: как лучше представлять короткую историю, если модель работает с окном фиксированной длины? За основу возьмём тензорную модель LA-SATF и сравним три варианта: нулевое заполнение, повторяемый служебный токен и одну метку начала истории. Проверим, меняются ли качество рекомендаций и время работы модели. Проект выполняем вдвоём: Даниил Деомидов и Никита Ляпин.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proposal_satf_padding_bos_v9.pdf, 22 октября 2026.</a:t>
            </a:r>
          </a:p>
          <a:p xmlns:a="http://schemas.openxmlformats.org/drawingml/2006/main">
            <a:r>
              <a:t>Статья: https://doi.org/10.1109/ACCESS.2023.3234863</a:t>
            </a:r>
          </a:p>
          <a:p xmlns:a="http://schemas.openxmlformats.org/drawingml/2006/main">
            <a:r>
              <a:t>Авторский код: https://github.com/recspert/SATF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Слайд 2. Задача и гипотезы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**0:35–1:40 · 65 секунд**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входе — упорядоченная по времени история объектов пользователя. Например, фильмы, которым он поставил оценки. Мы будем использовать сами факты взаимодействий, а не предсказывать величину оценки. На выходе получим ранжированный список объектов, с которыми пользователь ещё не взаимодействовал. Проверять будем положение следующего нового объекта в этом списке.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каждой истории оставим не более K последних реальных событий. Если событий меньше, появятся незаполненные позиции. В исходном методе они остаются нулевыми. Ноль здесь означает отсутствие записи в тензоре, а не отдельную отрицательную оценку товара.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нас три гипотезы. Первая: явное кодирование незаполненного префикса с помощью PAD или BOS может повысить NDCG@10 относительно нулевого заполнения. Вторая: одна метка BOS может оказаться дешевле повторяемого PAD по времени при сопоставимом качестве. Третья: эффект будет зависеть от длины истории. Поэтому сравним не только среднее качество, но и результаты для историй разной длины.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proposal_satf_padding_bos_v9.pdf, 22 октября 2026.</a:t>
            </a:r>
          </a:p>
          <a:p xmlns:a="http://schemas.openxmlformats.org/drawingml/2006/main">
            <a:r>
              <a:t>Статья: https://doi.org/10.1109/ACCESS.2023.3234863</a:t>
            </a:r>
          </a:p>
          <a:p xmlns:a="http://schemas.openxmlformats.org/drawingml/2006/main">
            <a:r>
              <a:t>Авторский код: https://github.com/recspert/SATF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Слайд 3. Три представления одной истории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**1:40–3:10 · 90 секунд**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Посмотрим на пример. Размер окна — пять позиций, а в истории есть три объекта: A, B и C. Все три варианта сохраняют эти реальные события на одинаковых позициях справа. Отличается только заполнение двух свободных позиций слева.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варианте Zero получим ноль, ноль, A, B, C. Это исходное представление LA-SATF: в первых двух позициях нет наблюдаемых взаимодействий. В варианте PAD получим PAD, PAD, A, B, C. Обе свободные позиции теперь содержат записи одного и того же служебного объекта. В варианте BOS получим ноль, BOS, A, B, C. Одна запись стоит непосредственно перед первым доступным событием, а оставшийся префикс сохраняется нулевым.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Таким образом, PAD явно заполняет каждую свободную позицию, а BOS отмечает границу доступной истории одной записью. Это и создаёт предполагаемую разницу в вычислительной стоимости. Сами PAD и BOS мы не будем рекомендовать пользователю: они исключены из множества кандидатов.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Есть важный крайний случай: если все пять позиций заняты реальными событиями, служебные токены не добавляются. В этой ситуации все три кодировки совпадают. Для длинной истории берём последние K событий. Нас интересует прежде всего поведение модели, когда окно заполнено не целиком.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**Пример для показа на слайде**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Вариант | История при K = 5 и n = 3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Zero | `[0, 0, A, B, C]` |</a:t>
            </a:r>
          </a:p>
          <a:p xmlns:a="http://schemas.openxmlformats.org/drawingml/2006/main">
            <a:r>
              <a:t>| PAD | `[PAD, PAD, A, B, C]` |</a:t>
            </a:r>
          </a:p>
          <a:p xmlns:a="http://schemas.openxmlformats.org/drawingml/2006/main">
            <a:r>
              <a:t>| BOS | `[0, BOS, A, B, C]`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proposal_satf_padding_bos_v9.pdf, 22 октября 2026.</a:t>
            </a:r>
          </a:p>
          <a:p xmlns:a="http://schemas.openxmlformats.org/drawingml/2006/main">
            <a:r>
              <a:t>Статья: https://doi.org/10.1109/ACCESS.2023.3234863</a:t>
            </a:r>
          </a:p>
          <a:p xmlns:a="http://schemas.openxmlformats.org/drawingml/2006/main">
            <a:r>
              <a:t>Авторский код: https://github.com/recspert/SATF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Слайд 4. Метод и самостоятельная работа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**3:10–4:35 · 85 секунд**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Основой проекта станет LA-SATF из статьи Фролова и Оселедца. Метод описывает взаимодействия тензором, где учитывается не только пользователь и объект, но и позиция объекта в истории. Затем из позиционного представления строится четырёхмерное Hankel-представление. Его низкоранговое Tucker-разложение позволяет выделить факторы пользователей, объектов и последовательности. Обучение выполняется итерационным методом ALS/HOOI, как в исходной работе. Локальная позиционная обработка задаёт, какие соседние позиции и с какими весами взаимодействуют.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сохраним основу модели и возьмём авторский код как отправную точку. Самостоятельная работа будет состоять из трёх частей. Сначала согласованно определим Zero, PAD и BOS для обучения и получения рекомендаций. Затем доработаем и проверим разреженные операции для служебных объектов. Наконец, проведём сравнительные эксперименты.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Отдельная техническая задача связана с повторяемым PAD. Один объект появляется сразу в нескольких позициях истории, и при Hankel-операциях нужно корректно учесть каждое такое появление. Поэтому недостаточно просто добавить новый идентификатор в данные. В исходной статье авторы также отмечают необходимость особой обработки такого заполнения. Мы проверим эту часть реализации на небольших примерах, где результат можно посчитать непосредственно.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proposal_satf_padding_bos_v9.pdf, 22 октября 2026.</a:t>
            </a:r>
          </a:p>
          <a:p xmlns:a="http://schemas.openxmlformats.org/drawingml/2006/main">
            <a:r>
              <a:t>Статья: https://doi.org/10.1109/ACCESS.2023.3234863</a:t>
            </a:r>
          </a:p>
          <a:p xmlns:a="http://schemas.openxmlformats.org/drawingml/2006/main">
            <a:r>
              <a:t>Авторский код: https://github.com/recspert/SATF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Слайд 5. Данные и эксперименты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**4:35–6:05 · 90 секунд**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будем использовать MovieLens-1M и Amazon Beauty 2014 в версии 5-core, как в исходной статье. Первый датасет содержит взаимодействия с фильмами, второй — с косметическими товарами и средствами ухода. Для обоих нам нужны идентификаторы пользователя и объекта и время события. Оценки преобразуем в факты взаимодействий, повторные пары удалим, события упорядочим по времени.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объектов есть дополнительные сведения, но в этих экспериментах модель будет работать с идентификаторами и порядком взаимодействий. Тексты и изображения не входят в выбранный подход. Таргетом станет следующий новый для пользователя объект.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Бейзлайнами будут SASRec и исходная LA-SATF с нулевым заполнением. Главное сравнение внутри LA-SATF — Zero, PAD и BOS. Будем менять ранги разложения, размер локального окна, затухание позиционных весов и нормализацию популярности. Для сравниваемых вариантов используем одинаковые данные и условия оценки.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Основная метрика — NDCG@10: она покажет, насколько высоко в первых десяти рекомендациях оказался следующий объект. Дополнительно измерим время обучения и инференса. Результаты рассмотрим для историй разной длины и повторим эксперименты с несколькими случайными инициализациями. Так мы проверим не только возможный выигрыш в среднем, но и его устойчивость, а также вычислительную стоимость каждого варианта.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proposal_satf_padding_bos_v9.pdf, 22 октября 2026.</a:t>
            </a:r>
          </a:p>
          <a:p xmlns:a="http://schemas.openxmlformats.org/drawingml/2006/main">
            <a:r>
              <a:t>Статья: https://doi.org/10.1109/ACCESS.2023.3234863</a:t>
            </a:r>
          </a:p>
          <a:p xmlns:a="http://schemas.openxmlformats.org/drawingml/2006/main">
            <a:r>
              <a:t>Авторский код: https://github.com/recspert/SATF</a:t>
            </a:r>
          </a:p>
          <a:p xmlns:a="http://schemas.openxmlformats.org/drawingml/2006/main">
            <a:r>
              <a:t>Данные: https://grouplens.org/datasets/movielens/1m/</a:t>
            </a:r>
          </a:p>
          <a:p xmlns:a="http://schemas.openxmlformats.org/drawingml/2006/main">
            <a:r>
              <a:t>https://mcauleylab.ucsd.edu/public_datasets/data/amazon/categoryFiles/reviews_Beauty_5.json.gz</a:t>
            </a:r>
          </a:p>
          <a:p xmlns:a="http://schemas.openxmlformats.org/drawingml/2006/main">
            <a:r>
              <a:t>SASRec: https://arxiv.org/abs/1808.09781</a:t>
            </a:r>
          </a:p>
          <a:p xmlns:a="http://schemas.openxmlformats.org/drawingml/2006/main">
            <a:r>
              <a:t>Число взаимодействий проверено полной загрузкой датасетов, data/verification.json.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Слайд 6. План, команда и результат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**6:05–7:00 · 55 секунд**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Даниил будет отвечать за подготовку данных, протокол оценки, прогон бейзлайнов и сравнение результатов. Никита — за реализацию и обучение вариантов LA-SATF с PAD и BOS, абляции и проверку операций. Отчёты, презентации и выступления готовим вместе.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 первому прогресс-отчёту 19 ноября планируем получить сравнение на MovieLens-1M. Ко второму, 3 декабря, добавим Amazon Beauty и анализ по длинам историй. Затем подготовим финальный отчёт к 9 декабря и защиту 10–11 декабря.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Вычисления будем проводить в бесплатном Google Colab: CPU для LA-SATF и GPU для SASRec. Минимальный результат — воспроизведение LA-SATF и сравнение трёх кодировок на MovieLens-1M. Ссылка на открытый репозиторий размещена на слайде: там будут описание проекта, код и инструкции воспроизведения экспериментов.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proposal_satf_padding_bos_v9.pdf, 22 октября 2026.</a:t>
            </a:r>
          </a:p>
          <a:p xmlns:a="http://schemas.openxmlformats.org/drawingml/2006/main">
            <a:r>
              <a:t>Статья: https://doi.org/10.1109/ACCESS.2023.3234863</a:t>
            </a:r>
          </a:p>
          <a:p xmlns:a="http://schemas.openxmlformats.org/drawingml/2006/main">
            <a:r>
              <a:t>Авторский код: https://github.com/recspert/SATF</a:t>
            </a:r>
          </a:p>
          <a:p xmlns:a="http://schemas.openxmlformats.org/drawingml/2006/main">
            <a:r>
              <a:t>Репозиторий: https://github.com/rangefanimen-blip/satf-padding-bos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3bf2f48284c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eb00e603e4e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993352c5548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6c865111d4f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f00eccb3644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fd85699384a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8A561B-3F85-4DDC-91AF-6F458C607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480A6F-7855-42EF-9108-934E3D39A0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6A9585-96E6-41B8-841E-716D3B77D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957FE4-CFC9-46DA-AC8A-FA94EC7B8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FC98DB-61F0-43CC-9FD2-DC15BDB765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F2F026-2545-49DB-A96E-EBA7F4E84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9F579B-5295-4D78-8C01-A84EF5B7BC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A79A80-C384-487E-A48A-1B96892E8F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99CBA5-66ED-4592-A0F6-17C9C943ED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F2D8A-4F1A-4123-8FF4-261BCF101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5473770cea48e7" /><Relationship Type="http://schemas.openxmlformats.org/officeDocument/2006/relationships/slideLayout" Target="/ppt/slideLayouts/slideLayout1.xml" Id="R3a78dbe2f3b64119" /><Relationship Type="http://schemas.openxmlformats.org/officeDocument/2006/relationships/slideLayout" Target="/ppt/slideLayouts/slideLayout2.xml" Id="Re68ae197c98d44e9" /><Relationship Type="http://schemas.openxmlformats.org/officeDocument/2006/relationships/slideLayout" Target="/ppt/slideLayouts/slideLayout3.xml" Id="R33c423c0019b42ba" /><Relationship Type="http://schemas.openxmlformats.org/officeDocument/2006/relationships/slideLayout" Target="/ppt/slideLayouts/slideLayout4.xml" Id="R8eef2e514ba4445f" /><Relationship Type="http://schemas.openxmlformats.org/officeDocument/2006/relationships/slideLayout" Target="/ppt/slideLayouts/slideLayout5.xml" Id="R6506c08c685245b1" /><Relationship Type="http://schemas.openxmlformats.org/officeDocument/2006/relationships/slideLayout" Target="/ppt/slideLayouts/slideLayout6.xml" Id="R0bcdadf17b6448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8dbe2f3b64119"/>
    <p:sldLayoutId xmlns:r="http://schemas.openxmlformats.org/officeDocument/2006/relationships" id="2147483650" r:id="Re68ae197c98d44e9"/>
    <p:sldLayoutId xmlns:r="http://schemas.openxmlformats.org/officeDocument/2006/relationships" id="2147483651" r:id="R33c423c0019b42ba"/>
    <p:sldLayoutId xmlns:r="http://schemas.openxmlformats.org/officeDocument/2006/relationships" id="2147483652" r:id="R8eef2e514ba4445f"/>
    <p:sldLayoutId xmlns:r="http://schemas.openxmlformats.org/officeDocument/2006/relationships" id="2147483653" r:id="R6506c08c685245b1"/>
    <p:sldLayoutId xmlns:r="http://schemas.openxmlformats.org/officeDocument/2006/relationships" id="2147483654" r:id="R0bcdadf17b6448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b35437e9f49f5" /><Relationship Type="http://schemas.openxmlformats.org/officeDocument/2006/relationships/notesSlide" Target="/ppt/notesSlides/notesSlide1.xml" Id="R8f96da1374fd4a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0ee6e01164da9" /><Relationship Type="http://schemas.openxmlformats.org/officeDocument/2006/relationships/notesSlide" Target="/ppt/notesSlides/notesSlide2.xml" Id="Rcb73c5706bfa49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c9ebc5d2146c0" /><Relationship Type="http://schemas.openxmlformats.org/officeDocument/2006/relationships/notesSlide" Target="/ppt/notesSlides/notesSlide3.xml" Id="Rb59c80e7eeba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5a50a4b334092" /><Relationship Type="http://schemas.openxmlformats.org/officeDocument/2006/relationships/notesSlide" Target="/ppt/notesSlides/notesSlide4.xml" Id="Re34b3ea224e74c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9f9857d674dda" /><Relationship Type="http://schemas.openxmlformats.org/officeDocument/2006/relationships/notesSlide" Target="/ppt/notesSlides/notesSlide5.xml" Id="R0ae64b946ce747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6a0b96ec14ab0" /><Relationship Type="http://schemas.openxmlformats.org/officeDocument/2006/relationships/hyperlink" Target="https://github.com/rangefanimen-blip/satf-padding-bos" TargetMode="External" Id="R7f0a7065ab7f44d1" /><Relationship Type="http://schemas.openxmlformats.org/officeDocument/2006/relationships/notesSlide" Target="/ppt/notesSlides/notesSlide6.xml" Id="R8bec76428dfc42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3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7CAF96D3-769E-4FB9-8714-E0E15A61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Паддинг и метка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начала истории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B4A817-6B5D-4266-920F-7C39E3DF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19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BDD7E3"/>
                </a:solidFill>
                <a:latin typeface="DejaVu Sans"/>
                <a:ea typeface="DejaVu Sans"/>
                <a:cs typeface="DejaVu Sans"/>
              </a:rPr>
              <a:t>в тензорных последовательных рекомендациях LA-SATF</a:t>
            </a:r>
          </a:p>
        </p:txBody>
      </p:sp>
      <p:sp>
        <p:nvSpPr>
          <p:cNvPr id="3" name="authors">
            <a:extLst xmlns:a="http://schemas.openxmlformats.org/drawingml/2006/main">
              <a:ext uri="{FF2B5EF4-FFF2-40B4-BE49-F238E27FC236}">
                <a16:creationId xmlns:a16="http://schemas.microsoft.com/office/drawing/2014/main" id="{C41A91A0-C732-4158-B7B1-7E497865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Даниил Деомидов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Никита Ляпин</a:t>
            </a:r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B1B436EE-3E7A-41D6-9FE3-34D844B5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38750"/>
            <a:ext cx="236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rPr>
              <a:t>Proposal</a:t>
            </a:r>
          </a:p>
          <a:p xmlns:a="http://schemas.openxmlformats.org/drawingml/2006/main">
            <a:pPr>
              <a:def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BDD7E3"/>
                </a:solidFill>
                <a:latin typeface="DejaVu Sans"/>
                <a:ea typeface="DejaVu Sans"/>
                <a:cs typeface="DejaVu Sans"/>
              </a:rPr>
              <a:t>22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25801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B91845-3A10-4B85-AE2A-EFC93CBD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Задача и гипотезы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FC23FF-2C79-4A97-B20E-3783BE26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DEEE71C-2E03-417B-A120-AD5EF2A5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6598C5-A6B1-4C6D-A8FC-05030CA0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История идентификаторов</a:t>
            </a:r>
          </a:p>
          <a:p xmlns:a="http://schemas.openxmlformats.org/drawingml/2006/main">
            <a: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объектов по времени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96F6B8B-B1EB-4A78-8CB4-817E75AD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ТАРГЕТ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64700B6-9973-45E4-A2FB-F713DD1B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Следующий новый</a:t>
            </a:r>
          </a:p>
          <a:p xmlns:a="http://schemas.openxmlformats.org/drawingml/2006/main">
            <a:pPr>
              <a:def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для пользователя объект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D67B618-3236-4EE3-942D-AB4909D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H1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15A2F74-6BC0-442F-AB29-FC91E69E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PAD и BOS повышают NDCG@10 относительно Zero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0F6A9B9-6D4A-47B1-9217-D8682A80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H2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8468F33-A5F1-4872-92D0-9EF3C66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6720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BOS сохраняет качество PAD</a:t>
            </a:r>
          </a:p>
          <a:p xmlns:a="http://schemas.openxmlformats.org/drawingml/2006/main">
            <a: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при меньших затратах времени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1EAD2A2-9F3E-4049-A19F-AF8E6F7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H3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09AF8E0-B5F3-49CA-82F8-0A5B895F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Эффект зависит от длины доступной истории</a:t>
            </a:r>
          </a:p>
        </p:txBody>
      </p:sp>
    </p:spTree>
    <p:extLst>
      <p:ext uri="{BB962C8B-B14F-4D97-AF65-F5344CB8AC3E}">
        <p14:creationId xmlns:p14="http://schemas.microsoft.com/office/powerpoint/2010/main" val="551338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86901F-5A3B-4D89-B61C-070C1C9B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Zero, PAD и BOS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34FC12-E7FC-46B6-AFBF-7AD610C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6D0878-2217-414C-803A-4474BE6D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Одна история [a, b, c], окно K = 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486D7-5FCC-40E8-88A2-E3AEA59A2EA2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71625"/>
                <a:gridCol w="4619625"/>
                <a:gridCol w="4629150"/>
              </a:tblGrid>
              <a:tr h="738188">
                <a:tc>
                  <a:txBody>
                    <a:bodyPr lIns="133350" tIns="133350" rIns="133350" bIns="133350"/>
                    <a:lstStyle/>
                    <a:p>
                      <a:r>
                        <a:rPr sz="1650" b="1">
                          <a:solidFill>
                            <a:srgbClr val="165D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Вариант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4EB"/>
                      </a:solidFill>
                      <a:prstDash val="solid"/>
                    </a:lnL>
                    <a:lnR w="5715">
                      <a:solidFill>
                        <a:srgbClr val="D8E4EB"/>
                      </a:solidFill>
                      <a:prstDash val="solid"/>
                    </a:lnR>
                    <a:lnT w="5715">
                      <a:solidFill>
                        <a:srgbClr val="D8E4EB"/>
                      </a:solidFill>
                      <a:prstDash val="solid"/>
                    </a:lnT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650" b="1">
                          <a:solidFill>
                            <a:srgbClr val="165D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Представление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T w="5715">
                      <a:solidFill>
                        <a:srgbClr val="D8E4EB"/>
                      </a:solidFill>
                      <a:prstDash val="solid"/>
                    </a:lnT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650" b="1">
                          <a:solidFill>
                            <a:srgbClr val="165D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Отсутствующий префикс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T w="5715">
                      <a:solidFill>
                        <a:srgbClr val="D8E4EB"/>
                      </a:solidFill>
                      <a:prstDash val="solid"/>
                    </a:lnT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EAF2F6"/>
                    </a:solidFill>
                  </a:tcPr>
                </a:tc>
              </a:tr>
              <a:tr h="738188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Zero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4EB"/>
                      </a:solidFill>
                      <a:prstDash val="solid"/>
                    </a:lnL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[0, 0, a, b, c]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Нулевые позиции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</a:tr>
              <a:tr h="738188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4EB"/>
                      </a:solidFill>
                      <a:prstDash val="solid"/>
                    </a:lnL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[PAD, PAD, a, b, c]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Повторяемый</a:t>
                      </a:r>
                    </a:p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служебный объект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</a:tr>
              <a:tr h="738188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4EB"/>
                      </a:solidFill>
                      <a:prstDash val="solid"/>
                    </a:lnL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[0, BOS, a, b, c]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Одна метка начала</a:t>
                      </a:r>
                    </a:p>
                    <a:p>
                      <a:r>
                        <a:rPr sz="2025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доступной истории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FD825A5-7CBF-48C8-9D31-17F83AD9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При n = K все варианты совпадают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F8E0A0D-A6A7-4FD2-A452-34C0757A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PAD и BOS исключаем из кандидатов рекомендации</a:t>
            </a:r>
          </a:p>
        </p:txBody>
      </p:sp>
    </p:spTree>
    <p:extLst>
      <p:ext uri="{BB962C8B-B14F-4D97-AF65-F5344CB8AC3E}">
        <p14:creationId xmlns:p14="http://schemas.microsoft.com/office/powerpoint/2010/main" val="1087158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9B4645-CE42-4A11-9020-E743E3F3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Метод и самостоятельный вклад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CC2F33-3CA1-468A-8D65-5C0FC2F3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52F939-03B5-4D5D-A993-4495EF72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Основа: статья Frolov и Oseledets и авторский код SATF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F13AB0E-7EBB-417E-AB8F-E1C29714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LA-SATF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58A47C-9D22-45B4-BC48-4ABFC949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33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Тензор «пользователь × объект × позиция»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Четырёхмерное Hankel-представление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Tucker-разложение, обучение ALS/HOOI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DDB51C1-1DF2-4014-8E29-DFE92CE1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Работа команды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AC70E13-20AD-491A-9564-7B63C45E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714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Согласуем Zero, PAD и BOS</a:t>
            </a:r>
          </a:p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при обучении и инференсе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Учтём все позиции повторяемого PAD</a:t>
            </a:r>
          </a:p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в разреженных Hankel-операциях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43B16B7-C156-46A5-8327-3923E078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Сохраняем целевую функцию LA-SATF и проверяем влияние кодировки истории</a:t>
            </a:r>
          </a:p>
        </p:txBody>
      </p:sp>
    </p:spTree>
    <p:extLst>
      <p:ext uri="{BB962C8B-B14F-4D97-AF65-F5344CB8AC3E}">
        <p14:creationId xmlns:p14="http://schemas.microsoft.com/office/powerpoint/2010/main" val="1475629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4EE82-28E6-4D26-AA03-2E8D3FEB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Данные и эксперименты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372CB9-513F-4050-AF78-B101AB7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69724-6D13-4822-BC8B-77402A8ABA20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1666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857750"/>
                <a:gridCol w="3333750"/>
                <a:gridCol w="2628900"/>
              </a:tblGrid>
              <a:tr h="555625">
                <a:tc>
                  <a:txBody>
                    <a:bodyPr lIns="133350" tIns="133350" rIns="133350" bIns="133350"/>
                    <a:lstStyle/>
                    <a:p>
                      <a:r>
                        <a:rPr sz="1650" b="1">
                          <a:solidFill>
                            <a:srgbClr val="165D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Датасет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4EB"/>
                      </a:solidFill>
                      <a:prstDash val="solid"/>
                    </a:lnL>
                    <a:lnR w="5715">
                      <a:solidFill>
                        <a:srgbClr val="D8E4EB"/>
                      </a:solidFill>
                      <a:prstDash val="solid"/>
                    </a:lnR>
                    <a:lnT w="5715">
                      <a:solidFill>
                        <a:srgbClr val="D8E4EB"/>
                      </a:solidFill>
                      <a:prstDash val="solid"/>
                    </a:lnT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650" b="1">
                          <a:solidFill>
                            <a:srgbClr val="165D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Объекты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T w="5715">
                      <a:solidFill>
                        <a:srgbClr val="D8E4EB"/>
                      </a:solidFill>
                      <a:prstDash val="solid"/>
                    </a:lnT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650" b="1">
                          <a:solidFill>
                            <a:srgbClr val="165D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Взаимодействия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T w="5715">
                      <a:solidFill>
                        <a:srgbClr val="D8E4EB"/>
                      </a:solidFill>
                      <a:prstDash val="solid"/>
                    </a:lnT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EAF2F6"/>
                    </a:solidFill>
                  </a:tcPr>
                </a:tc>
              </a:tr>
              <a:tr h="555625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MovieLens-1M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4EB"/>
                      </a:solidFill>
                      <a:prstDash val="solid"/>
                    </a:lnL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Фильмы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1 000 209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</a:tr>
              <a:tr h="555625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Amazon Beauty 2014, 5-core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4EB"/>
                      </a:solidFill>
                      <a:prstDash val="solid"/>
                    </a:lnL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Косметические товары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B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198 502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4EB"/>
                      </a:solidFill>
                      <a:prstDash val="solid"/>
                    </a:lnR>
                    <a:lnB w="5715">
                      <a:solidFill>
                        <a:srgbClr val="D8E4EB"/>
                      </a:solidFill>
                      <a:prstDash val="solid"/>
                    </a:lnB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927A13F-E97D-4CC5-B5AD-FD31B133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NDCG@10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AAD6EAF-69A3-4744-9122-C2527CEB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702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Время обучения и инференса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D32FB65-2543-4136-9F58-EA70F16D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Бейзлайны: SASRec и LA-SATF Zero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D91DF5E-FB68-42C1-AC19-891B8749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Сравниваем Zero, PAD и BOS для разных длин истории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DA476EF-80EC-4B03-9CF4-8C9CEA99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Варьируем ранги, локальное окно, затухание весов</a:t>
            </a:r>
          </a:p>
          <a:p xmlns:a="http://schemas.openxmlformats.org/drawingml/2006/main">
            <a:pPr>
              <a:def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и нормализацию популярности LA-SATF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7EC26A7-25C2-4FBB-93EA-F171E923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Повторяем эксперименты с несколькими случайными инициализациями</a:t>
            </a:r>
          </a:p>
        </p:txBody>
      </p:sp>
    </p:spTree>
    <p:extLst>
      <p:ext uri="{BB962C8B-B14F-4D97-AF65-F5344CB8AC3E}">
        <p14:creationId xmlns:p14="http://schemas.microsoft.com/office/powerpoint/2010/main" val="17927047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9103D8-D17A-4D0A-A081-B76388B9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План работы и команда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1FB9EA-A091-48C7-915C-AD0AEBB5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35FE47-01DB-40B5-8056-4DAEB58D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Даниил Деомидов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6CAD77A-EE75-4824-B4FD-AD4DEF5E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09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Данные, протокол оценки,</a:t>
            </a:r>
          </a:p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SASRec и LA-SATF Zero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13F73C0-5BF9-413F-BA8E-1C89D394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Никита Ляпин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F3E7E2E-25D3-4933-8876-E0C69FA9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509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Реализация и обучение PAD/BOS,</a:t>
            </a:r>
          </a:p>
          <a:p xmlns:a="http://schemas.openxmlformats.org/drawingml/2006/main">
            <a:pPr>
              <a:def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абляции и анализ по длине истории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C99445A-CAAE-4774-92A3-6F6828B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5D75"/>
                </a:solidFill>
                <a:latin typeface="DejaVu Sans"/>
                <a:ea typeface="DejaVu Sans"/>
                <a:cs typeface="DejaVu Sans"/>
              </a:rPr>
              <a:t>Совместно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904407D-D167-4640-9A90-D8AFD95E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Отчёты, презентации и выступления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68CA3CC-7F7E-4788-A929-19B2A51C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763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19 ноября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B9FB83B-CBC7-4A1B-8B5B-F90BBB7C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1927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Первый прогресс-отчёт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0306ADA-4ED6-4905-B9EF-288C2978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3 декабря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A5A3023-FE41-4038-8B58-5ADF57D6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Второй прогресс-отчёт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9C79B29-F619-4F49-8A27-9A43CA5E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337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9 декабря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2AFC25D-0365-426D-8F19-7F182BD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Финальный отчёт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6258E87-C7E6-4FF1-A86C-885564A4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5334D"/>
                </a:solidFill>
                <a:latin typeface="DejaVu Sans"/>
                <a:ea typeface="DejaVu Sans"/>
                <a:cs typeface="DejaVu Sans"/>
              </a:rPr>
              <a:t>10–11 декабря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7F46A308-E0BD-4CB3-9967-D39BD40D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B3B"/>
                </a:solidFill>
                <a:latin typeface="DejaVu Sans"/>
                <a:ea typeface="DejaVu Sans"/>
                <a:cs typeface="DejaVu Sans"/>
              </a:rPr>
              <a:t>Защита проекта</a:t>
            </a:r>
          </a:p>
        </p:txBody>
      </p:sp>
      <p:sp>
        <p:nvSpPr>
          <p:cNvPr id="17" name="repository-link">
            <a:extLst xmlns:a="http://schemas.openxmlformats.org/drawingml/2006/main">
              <a:ext uri="{FF2B5EF4-FFF2-40B4-BE49-F238E27FC236}">
                <a16:creationId xmlns:a16="http://schemas.microsoft.com/office/drawing/2014/main" id="{D0B5FCC2-5588-45AD-86FF-95A17B7E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5D75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f0a7065ab7f44d1"/>
              </a:rPr>
              <a:t>github.com/rangefanimen-blip/satf-padding-bos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5E1D944D-320B-4E66-B130-004C0642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Бесплатный Colab: CPU для LA-SATF, GPU для SASRec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B82F414-7D43-4D98-BB95-4D50F91D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87080"/>
                </a:solidFill>
                <a:latin typeface="DejaVu Sans"/>
                <a:ea typeface="DejaVu Sans"/>
                <a:cs typeface="DejaVu Sans"/>
              </a:rPr>
              <a:t>Минимум: сравнение Zero, PAD и BOS на MovieLens-1M</a:t>
            </a:r>
          </a:p>
        </p:txBody>
      </p:sp>
    </p:spTree>
    <p:extLst>
      <p:ext uri="{BB962C8B-B14F-4D97-AF65-F5344CB8AC3E}">
        <p14:creationId xmlns:p14="http://schemas.microsoft.com/office/powerpoint/2010/main" val="17588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2026-10-22T20:37:30.2560000Z</dcterms:created>
  <dcterms:modified xsi:type="dcterms:W3CDTF">2026-10-22T20:37:30.2560000Z</dcterms:modified>
</coreProperties>
</file>